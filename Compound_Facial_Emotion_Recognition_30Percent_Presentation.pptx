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371600"/>
            <a:ext cx="137160" cy="4114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10241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14B8A6"/>
                </a:solidFill>
              </a:defRPr>
            </a:pPr>
            <a:r>
              <a:t>COLLEGE MAJOR PROJECT — PHASE 1 REVIEW (30% COMPLETION)</a:t>
            </a:r>
          </a:p>
          <a:p>
            <a:pPr>
              <a:spcAft>
                <a:spcPts val="1800"/>
              </a:spcAft>
              <a:defRPr sz="2600" b="1">
                <a:solidFill>
                  <a:srgbClr val="FFFFFF"/>
                </a:solidFill>
              </a:defRPr>
            </a:pPr>
            <a:r>
              <a:t>Compound Facial Emotion Recognition using Morphological Splicing &amp; Multi-Branch Attention-Transformer Networks</a:t>
            </a:r>
          </a:p>
          <a:p>
            <a:pPr>
              <a:spcAft>
                <a:spcPts val="3000"/>
              </a:spcAft>
              <a:defRPr sz="1400">
                <a:solidFill>
                  <a:srgbClr val="94A3B8"/>
                </a:solidFill>
              </a:defRPr>
            </a:pPr>
            <a:r>
              <a:t>A Deep Learning Framework combining SA-CNN, ALSTM, and Vision Transformers (ViT) with Dynamic Attention Fusion for 11 Compound Expression Classes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303520"/>
            <a:ext cx="10241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Domain: Deep Learning &amp; Computer Vision  |  Progress Stage: 30% Work Completed  |  Department of Computer Science &amp;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4B8A6"/>
                </a:solidFill>
                <a:latin typeface="Arial"/>
              </a:defRPr>
            </a:pPr>
            <a:r>
              <a:t>MAJOR PROJECT (30% COMPLETION REVIEW)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Introduction &amp; Motivation: Beyond Basic Emotions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28416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96265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14B8A6"/>
                </a:solidFill>
              </a:defRPr>
            </a:pPr>
            <a:r>
              <a:t>Beyond Basic Emotions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Traditional FER systems categorize faces into 6-7 basic emotions (Happy, Sad, Angry, Fear, Surprise, Disgust, Neutral).</a:t>
            </a:r>
            <a:br/>
            <a:br/>
            <a:r>
              <a:t>Real-world human expressions are subtle and blended, giving rise to Compound Emotions (e.g., 'Happily Surprised', 'Fearfully Angry').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645920"/>
            <a:ext cx="3328416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08576" y="1828800"/>
            <a:ext cx="296265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6366F1"/>
                </a:solidFill>
              </a:defRPr>
            </a:pPr>
            <a:r>
              <a:t>Key Technical Challenges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Micro-Expression Subtleties: Overlapping facial muscle movements across blended emotion pairs.</a:t>
            </a:r>
            <a:br/>
            <a:r>
              <a:t>• Intra-Class Ambiguity: High visual similarity between classes like 'Fearfully Angry' and 'Sadly Surprised'.</a:t>
            </a:r>
            <a:br/>
            <a:r>
              <a:t>• Feature Granularity: Requires local spatial, sequential, and global context.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1645920"/>
            <a:ext cx="3328416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02752" y="1828800"/>
            <a:ext cx="296265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F43F5E"/>
                </a:solidFill>
              </a:defRPr>
            </a:pPr>
            <a:r>
              <a:t>Practical Applications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Driver State &amp; Mental Health Monitoring</a:t>
            </a:r>
            <a:br/>
            <a:r>
              <a:t>• AI-driven HCI &amp; Virtual Assistant Empathy</a:t>
            </a:r>
            <a:br/>
            <a:r>
              <a:t>• Online Learning Student Engagement Tracking</a:t>
            </a:r>
            <a:br/>
            <a:r>
              <a:t>• Automated Customer Feedback &amp; Behavior Analysis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4B8A6"/>
                </a:solidFill>
                <a:latin typeface="Arial"/>
              </a:defRPr>
            </a:pPr>
            <a:r>
              <a:t>MAJOR PROJECT (30% COMPLETION REVIEW)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Problem Statement &amp; Major Project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43F5E"/>
                </a:solidFill>
              </a:defRPr>
            </a:pPr>
            <a:r>
              <a:t>PROBLEM STATEMENT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Existing Facial Emotion Recognition (FER) models rely heavily on single-stream CNNs or standard Transformers, which fail to capture fine-grained compound emotion nuances.</a:t>
            </a:r>
            <a:br/>
            <a:br/>
            <a:r>
              <a:t>There is a critical need for a multi-branch architecture that combines spatial attention, sequential relationship modeling, and global vision transformers to accurately classify 11 compound emotions while maintaining computational efficiency.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4B8A6"/>
                </a:solidFill>
              </a:defRPr>
            </a:pPr>
            <a:r>
              <a:t>PROJECT OBJECTIVES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1. Develop Morphological Splicing data augmentation pipeline for expression feature enhancement.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2. Implement a Multi-Branch Feature Extractor (SA-CNN, ALSTM, and Vision Transformer).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3. Design Generic Attention Fusion to dynamically balance local spatial and global contextual embeddings.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4. Conduct comprehensive empirical benchmarking across 6 baseline/hybrid architectures on RAF-DB, AffectNet, CK+, and JAFFE.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5. Achieve real-time inference capability (&gt;40 FPS) with low parameter footprint.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4B8A6"/>
                </a:solidFill>
                <a:latin typeface="Arial"/>
              </a:defRPr>
            </a:pPr>
            <a:r>
              <a:t>MAJOR PROJECT (30% COMPLETION REVIEW)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Literature Survey &amp; Research Gap Analysis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7286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560320"/>
                <a:gridCol w="2926080"/>
                <a:gridCol w="3139135"/>
              </a:tblGrid>
              <a:tr h="10972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Approach / Model Class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Key Advantages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Identified Limitations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Our Proposed Solution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Traditional CNNs</a:t>
                      </a:r>
                      <a:br/>
                      <a:r>
                        <a:t>(ResNet, VGG)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Good local spatial feature extraction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Fails to capture global facial context and long-range patch dependencies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Integrate Vision Transformer (ViT) backbone for global patch self-attention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Pure Vision Transformers</a:t>
                      </a:r>
                      <a:br/>
                      <a:r>
                        <a:t>(ViT-Base)</a:t>
                      </a:r>
                    </a:p>
                  </a:txBody>
                  <a:tcPr>
                    <a:solidFill>
                      <a:srgbClr val="1820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Excellent global attention modeling</a:t>
                      </a:r>
                    </a:p>
                  </a:txBody>
                  <a:tcPr>
                    <a:solidFill>
                      <a:srgbClr val="1820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High computational FLOPs; misses fine-grained local muscle contractions</a:t>
                      </a:r>
                    </a:p>
                  </a:txBody>
                  <a:tcPr>
                    <a:solidFill>
                      <a:srgbClr val="1820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Combine Spatial Attention CNN (SA-CNN) for fine facial muscle features</a:t>
                      </a:r>
                    </a:p>
                  </a:txBody>
                  <a:tcPr>
                    <a:solidFill>
                      <a:srgbClr val="18202F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RNN / LSTM models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Captures sequential &amp; spatial region correlations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Prone to gradient issues and lacks dynamic attention fusion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Incorporate Spatial Attention LSTM (ALSTM) fused via Dynamic Gated Softmax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4B8A6"/>
                </a:solidFill>
                <a:latin typeface="Arial"/>
              </a:defRPr>
            </a:pPr>
            <a:r>
              <a:t>MAJOR PROJECT (30% COMPLETION REVIEW)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Proposed Architecture: End-to-End System Design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3774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 b="1">
                <a:solidFill>
                  <a:srgbClr val="14B8A6"/>
                </a:solidFill>
              </a:defRPr>
            </a:pPr>
            <a:r>
              <a:t>Stage 1: Input &amp; Splicing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Input Face Image (224x224)</a:t>
            </a:r>
            <a:br/>
            <a:r>
              <a:t>• Morphological Splicing</a:t>
            </a:r>
            <a:br/>
            <a:r>
              <a:t>• Normalization &amp; Augmentation</a:t>
            </a:r>
            <a:br/>
            <a:r>
              <a:t>• Multi-scale facial cropping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645920"/>
            <a:ext cx="23774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11880" y="182880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 b="1">
                <a:solidFill>
                  <a:srgbClr val="6366F1"/>
                </a:solidFill>
              </a:defRPr>
            </a:pPr>
            <a:r>
              <a:t>Stage 2: Feature Extractors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SA-CNN: Spatial &amp; Channel Attention</a:t>
            </a:r>
            <a:br/>
            <a:r>
              <a:t>• ALSTM: Sequential Region Attention</a:t>
            </a:r>
            <a:br/>
            <a:r>
              <a:t>• ViT: Patch Self-Attention (16x16)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23774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 b="1">
                <a:solidFill>
                  <a:srgbClr val="F43F5E"/>
                </a:solidFill>
              </a:defRPr>
            </a:pPr>
            <a:r>
              <a:t>Stage 3: Attention Fusion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GenericAttentionFusion</a:t>
            </a:r>
            <a:br/>
            <a:r>
              <a:t>• Gated Softmax Weighting</a:t>
            </a:r>
            <a:br/>
            <a:r>
              <a:t>• Concatenation -&gt; 128 -&gt; Softmax</a:t>
            </a:r>
            <a:br/>
            <a:r>
              <a:t>• 512-dim Fused Embedding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645920"/>
            <a:ext cx="23774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98280" y="182880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 b="1">
                <a:solidFill>
                  <a:srgbClr val="F59E0B"/>
                </a:solidFill>
              </a:defRPr>
            </a:pPr>
            <a:r>
              <a:t>Stage 4: MLP Classification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Linear (512 -&gt; 256)</a:t>
            </a:r>
            <a:br/>
            <a:r>
              <a:t>• LayerNorm + GELU + Dropout</a:t>
            </a:r>
            <a:br/>
            <a:r>
              <a:t>• Linear (256 -&gt; 11)</a:t>
            </a:r>
            <a:br/>
            <a:r>
              <a:t>• 11 Compound Emotion Probabilities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4B8A6"/>
                </a:solidFill>
                <a:latin typeface="Arial"/>
              </a:defRPr>
            </a:pPr>
            <a:r>
              <a:t>MAJOR PROJECT (30% COMPLETION REVIEW)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Datasets &amp; Experimental Setup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4B8A6"/>
                </a:solidFill>
              </a:defRPr>
            </a:pPr>
            <a:r>
              <a:t>11 COMPOUND EMOTION CLASSES &amp; DATASETS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Compound Classes (11):</a:t>
            </a:r>
            <a:br/>
            <a:r>
              <a:t>Happily Surprised, Happily Disgusted, Sadly Fearful, Sadly Angry, Sadly Surprised, Sadly Disgusted, Fearfully Angry, Fearfully Surprised, Angrily Surprised, Angrily Disgusted, Disgustedly Surprised.</a:t>
            </a:r>
            <a:br/>
            <a:br/>
            <a:r>
              <a:t>Datasets Evaluated:</a:t>
            </a:r>
            <a:br/>
            <a:r>
              <a:t>• RAF-DB (Real-world Affective Faces - 3,068 test split)</a:t>
            </a:r>
            <a:br/>
            <a:r>
              <a:t>• AffectNet, JAFFE, CK+, FER-2013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6366F1"/>
                </a:solidFill>
              </a:defRPr>
            </a:pPr>
            <a:r>
              <a:t>TRAINING HYPERPARAMETERS &amp; CURRICULUM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Image Resolution: 224 x 224 | Batch Size: 32</a:t>
            </a:r>
            <a:br/>
            <a:r>
              <a:t>• Optimizer: AdamW (lr = 2e-4, weight_decay = 1e-4)</a:t>
            </a:r>
            <a:br/>
            <a:r>
              <a:t>• Learning Rate Schedule: OneCycleLR</a:t>
            </a:r>
            <a:br/>
            <a:r>
              <a:t>• Embedding Dim: 512 | LSTM Hidden: 256 (2 layers)</a:t>
            </a:r>
            <a:br/>
            <a:r>
              <a:t>• ViT Backbone: vit_base_patch16_224</a:t>
            </a:r>
            <a:br/>
            <a:br/>
            <a:r>
              <a:t>3-Stage Curriculum Training:</a:t>
            </a:r>
            <a:br/>
            <a:r>
              <a:t>1. Stage 1: Backbone Frozen (train head &amp; fusion)</a:t>
            </a:r>
            <a:br/>
            <a:r>
              <a:t>2. Stage 2: Partial Unfreeze (fine-tune last n blocks)</a:t>
            </a:r>
            <a:br/>
            <a:r>
              <a:t>3. Stage 3: Full Unfreeze (end-to-end optimization)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4B8A6"/>
                </a:solidFill>
                <a:latin typeface="Arial"/>
              </a:defRPr>
            </a:pPr>
            <a:r>
              <a:t>MAJOR PROJECT (30% COMPLETION REVIEW)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Phase 1 Progress: 30% Project Completion Status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73152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STATUS: PHASE 1 COMPLETED (30% MILESTONE ACHIEVED) — Core Pipeline &amp; Baseline Evaluation Ready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560320"/>
          <a:ext cx="10728655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2011680"/>
                <a:gridCol w="4602175"/>
              </a:tblGrid>
              <a:tr h="5791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4B8A6"/>
                          </a:solidFill>
                        </a:defRPr>
                      </a:pPr>
                      <a:r>
                        <a:t>Project Module / Task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4B8A6"/>
                          </a:solidFill>
                        </a:defRPr>
                      </a:pPr>
                      <a:r>
                        <a:t>Completion Status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4B8A6"/>
                          </a:solidFill>
                        </a:defRPr>
                      </a:pPr>
                      <a:r>
                        <a:t>Key Deliverable / Outcome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Architecture Design &amp; Module Construction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4B8A6"/>
                          </a:solidFill>
                        </a:defRPr>
                      </a:pPr>
                      <a:r>
                        <a:t>100% (Done)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SA-CNN, ALSTM, ViT, and Generic Attention Fusion built in PyTorch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Data Pipeline &amp; Morphological Splicing</a:t>
                      </a:r>
                    </a:p>
                  </a:txBody>
                  <a:tcPr>
                    <a:solidFill>
                      <a:srgbClr val="1820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4B8A6"/>
                          </a:solidFill>
                        </a:defRPr>
                      </a:pPr>
                      <a:r>
                        <a:t>100% (Done)</a:t>
                      </a:r>
                    </a:p>
                  </a:txBody>
                  <a:tcPr>
                    <a:solidFill>
                      <a:srgbClr val="1820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RAF-DB, AffectNet, CK+, JAFFE dataloaders &amp; splicing augmentation</a:t>
                      </a:r>
                    </a:p>
                  </a:txBody>
                  <a:tcPr>
                    <a:solidFill>
                      <a:srgbClr val="18202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Multi-Model Benchmark Suite (6 Models)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4B8A6"/>
                          </a:solidFill>
                        </a:defRPr>
                      </a:pPr>
                      <a:r>
                        <a:t>100% (Done)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ConvNeXt+ViT, SACNN+ViT, EfficientNetV2+ViT, Proposed Model, etc.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Evaluation Pipeline &amp; Metric Engine</a:t>
                      </a:r>
                    </a:p>
                  </a:txBody>
                  <a:tcPr>
                    <a:solidFill>
                      <a:srgbClr val="1820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4B8A6"/>
                          </a:solidFill>
                        </a:defRPr>
                      </a:pPr>
                      <a:r>
                        <a:t>100% (Done)</a:t>
                      </a:r>
                    </a:p>
                  </a:txBody>
                  <a:tcPr>
                    <a:solidFill>
                      <a:srgbClr val="1820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Accuracy, Precision, Recall, F1, FLOPs, Params, FPS, Confusion Matrix</a:t>
                      </a:r>
                    </a:p>
                  </a:txBody>
                  <a:tcPr>
                    <a:solidFill>
                      <a:srgbClr val="18202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Loss Optimization &amp; Real-Time GUI (Phases 2-3)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59E0B"/>
                          </a:solidFill>
                        </a:defRPr>
                      </a:pPr>
                      <a:r>
                        <a:t>0% (Planned)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Scheduled for 70% and 100% completion reviews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4B8A6"/>
                </a:solidFill>
                <a:latin typeface="Arial"/>
              </a:defRPr>
            </a:pPr>
            <a:r>
              <a:t>MAJOR PROJECT (30% COMPLETION REVIEW)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30% Benchmark Results: Performance Across 6 Architectures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7286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6175"/>
                <a:gridCol w="1188720"/>
                <a:gridCol w="1188720"/>
                <a:gridCol w="1188720"/>
                <a:gridCol w="1188720"/>
                <a:gridCol w="1188720"/>
                <a:gridCol w="1188720"/>
                <a:gridCol w="1280160"/>
              </a:tblGrid>
              <a:tr h="627017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Architecture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F1-Score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Params (M)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FLOPs (G)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FPS (Speed)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4B8A6"/>
                          </a:solidFill>
                        </a:defRPr>
                      </a:pPr>
                      <a:r>
                        <a:t>ConvNeXt + ViT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4B8A6"/>
                          </a:solidFill>
                        </a:defRPr>
                      </a:pPr>
                      <a:r>
                        <a:t>87.97%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82.89%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78.74%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80.43%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114.9M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42.6G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51.0 FPS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SA-CNN + ViT</a:t>
                      </a:r>
                    </a:p>
                  </a:txBody>
                  <a:tcPr>
                    <a:solidFill>
                      <a:srgbClr val="1820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87.61%</a:t>
                      </a:r>
                    </a:p>
                  </a:txBody>
                  <a:tcPr>
                    <a:solidFill>
                      <a:srgbClr val="1820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81.15%</a:t>
                      </a:r>
                    </a:p>
                  </a:txBody>
                  <a:tcPr>
                    <a:solidFill>
                      <a:srgbClr val="1820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78.89%</a:t>
                      </a:r>
                    </a:p>
                  </a:txBody>
                  <a:tcPr>
                    <a:solidFill>
                      <a:srgbClr val="1820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79.81%</a:t>
                      </a:r>
                    </a:p>
                  </a:txBody>
                  <a:tcPr>
                    <a:solidFill>
                      <a:srgbClr val="1820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103.1M</a:t>
                      </a:r>
                    </a:p>
                  </a:txBody>
                  <a:tcPr>
                    <a:solidFill>
                      <a:srgbClr val="1820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44.3G</a:t>
                      </a:r>
                    </a:p>
                  </a:txBody>
                  <a:tcPr>
                    <a:solidFill>
                      <a:srgbClr val="1820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53.1 FPS</a:t>
                      </a:r>
                    </a:p>
                  </a:txBody>
                  <a:tcPr>
                    <a:solidFill>
                      <a:srgbClr val="18202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EfficientNetV2 + ViT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87.35%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82.45%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77.74%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79.65%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107.6M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39.1G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40.9 FPS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Proposed (Splicing+SACNN+ALSTM+ViT)</a:t>
                      </a:r>
                    </a:p>
                  </a:txBody>
                  <a:tcPr>
                    <a:solidFill>
                      <a:srgbClr val="1820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86.86%</a:t>
                      </a:r>
                    </a:p>
                  </a:txBody>
                  <a:tcPr>
                    <a:solidFill>
                      <a:srgbClr val="1820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80.92%</a:t>
                      </a:r>
                    </a:p>
                  </a:txBody>
                  <a:tcPr>
                    <a:solidFill>
                      <a:srgbClr val="1820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77.18%</a:t>
                      </a:r>
                    </a:p>
                  </a:txBody>
                  <a:tcPr>
                    <a:solidFill>
                      <a:srgbClr val="1820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78.71%</a:t>
                      </a:r>
                    </a:p>
                  </a:txBody>
                  <a:tcPr>
                    <a:solidFill>
                      <a:srgbClr val="1820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106.4M</a:t>
                      </a:r>
                    </a:p>
                  </a:txBody>
                  <a:tcPr>
                    <a:solidFill>
                      <a:srgbClr val="1820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45.5G</a:t>
                      </a:r>
                    </a:p>
                  </a:txBody>
                  <a:tcPr>
                    <a:solidFill>
                      <a:srgbClr val="1820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43.4 FPS</a:t>
                      </a:r>
                    </a:p>
                  </a:txBody>
                  <a:tcPr>
                    <a:solidFill>
                      <a:srgbClr val="18202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ALSTM + ViT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86.86%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81.90%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77.36%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79.16%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89.9M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34.9G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53.4 FPS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2701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SA-CNN + ALSTM</a:t>
                      </a:r>
                    </a:p>
                  </a:txBody>
                  <a:tcPr>
                    <a:solidFill>
                      <a:srgbClr val="1820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80.67%</a:t>
                      </a:r>
                    </a:p>
                  </a:txBody>
                  <a:tcPr>
                    <a:solidFill>
                      <a:srgbClr val="1820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63.24%</a:t>
                      </a:r>
                    </a:p>
                  </a:txBody>
                  <a:tcPr>
                    <a:solidFill>
                      <a:srgbClr val="1820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62.03%</a:t>
                      </a:r>
                    </a:p>
                  </a:txBody>
                  <a:tcPr>
                    <a:solidFill>
                      <a:srgbClr val="1820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62.38%</a:t>
                      </a:r>
                    </a:p>
                  </a:txBody>
                  <a:tcPr>
                    <a:solidFill>
                      <a:srgbClr val="1820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59E0B"/>
                          </a:solidFill>
                        </a:defRPr>
                      </a:pPr>
                      <a:r>
                        <a:t>20.1M</a:t>
                      </a:r>
                    </a:p>
                  </a:txBody>
                  <a:tcPr>
                    <a:solidFill>
                      <a:srgbClr val="1820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11.8G</a:t>
                      </a:r>
                    </a:p>
                  </a:txBody>
                  <a:tcPr>
                    <a:solidFill>
                      <a:srgbClr val="1820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59E0B"/>
                          </a:solidFill>
                        </a:defRPr>
                      </a:pPr>
                      <a:r>
                        <a:t>79.8 FPS</a:t>
                      </a:r>
                    </a:p>
                  </a:txBody>
                  <a:tcPr>
                    <a:solidFill>
                      <a:srgbClr val="18202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4B8A6"/>
                </a:solidFill>
                <a:latin typeface="Arial"/>
              </a:defRPr>
            </a:pPr>
            <a:r>
              <a:t>MAJOR PROJECT (30% COMPLETION REVIEW)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Key Findings: Performance vs Computational Complexity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4B8A6"/>
                </a:solidFill>
              </a:defRPr>
            </a:pPr>
            <a:r>
              <a:t>HIGH-ACCURACY TRANSFORMER VARIANTS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ConvNeXt + ViT achieved peak accuracy of 87.97% with macro F1 of 80.43%.</a:t>
            </a:r>
            <a:br/>
            <a:r>
              <a:t>• SA-CNN + ViT achieved 87.61% accuracy with excellent spatial feature representation.</a:t>
            </a:r>
            <a:br/>
            <a:r>
              <a:t>• Vision Transformer patch self-attention is essential for disambiguating compound facial expressions.</a:t>
            </a:r>
            <a:br/>
            <a:r>
              <a:t>• Inference speeds remain above 50 FPS on GPU.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59E0B"/>
                </a:solidFill>
              </a:defRPr>
            </a:pPr>
            <a:r>
              <a:t>LIGHTWEIGHT &amp; REAL-TIME EDGE VARIANTS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SA-CNN + ALSTM operates with only 20.1M parameters and 11.8 GFLOPs.</a:t>
            </a:r>
            <a:br/>
            <a:r>
              <a:t>• Reaches ultra-fast 79.8 FPS inference, making it ideal for edge devices and mobile systems.</a:t>
            </a:r>
            <a:br/>
            <a:r>
              <a:t>• Trade-off: Accuracy drops to 80.67%, proving that Transformer self-attention is critical for compound expression nuances.</a:t>
            </a:r>
            <a:br/>
            <a:r>
              <a:t>• Fused models strike an optimal balance for server-side real-time deployment.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4B8A6"/>
                </a:solidFill>
                <a:latin typeface="Arial"/>
              </a:defRPr>
            </a:pPr>
            <a:r>
              <a:t>MAJOR PROJECT (30% COMPLETION REVIEW)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Error Analysis &amp; Fine-Grained Expression Confusion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28416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96265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F43F5E"/>
                </a:solidFill>
              </a:defRPr>
            </a:pPr>
            <a:r>
              <a:t>Primary Confusion Pair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Across ALL models, the most confused compound emotion pair was:</a:t>
            </a:r>
            <a:br/>
            <a:br/>
            <a:r>
              <a:t>'Fearfully Angry' &lt;-&gt; 'Sadly Surprised'</a:t>
            </a:r>
            <a:br/>
            <a:r>
              <a:t>(36 to 61 misclassified samples)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645920"/>
            <a:ext cx="3328416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08576" y="1828800"/>
            <a:ext cx="296265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6366F1"/>
                </a:solidFill>
              </a:defRPr>
            </a:pPr>
            <a:r>
              <a:t>Root Cause Analysis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Morphological Overlap: Both expressions share contracted brow muscles (corrugator supercilii) and widened eyes.</a:t>
            </a:r>
            <a:br/>
            <a:r>
              <a:t>• Imbalanced Split: Subtle micro-expression differences require adaptive loss re-weighting.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1645920"/>
            <a:ext cx="3328416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02752" y="1828800"/>
            <a:ext cx="296265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14B8A6"/>
                </a:solidFill>
              </a:defRPr>
            </a:pPr>
            <a:r>
              <a:t>Mitigation in Phase 2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Implement Class-Weighted Cross-Entropy Loss.</a:t>
            </a:r>
            <a:br/>
            <a:r>
              <a:t>• Introduce Focal Loss to heavily penalize hard compound emotion misclassifications.</a:t>
            </a:r>
            <a:br/>
            <a:r>
              <a:t>• Fine-tune attention gates specifically on confused class boundaries.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4B8A6"/>
                </a:solidFill>
                <a:latin typeface="Arial"/>
              </a:defRPr>
            </a:pPr>
            <a:r>
              <a:t>MAJOR PROJECT (30% COMPLETION REVIEW)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Roadmap: Plan for Remaining 70% Project Completion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4B8A6"/>
                </a:solidFill>
              </a:defRPr>
            </a:pPr>
            <a:r>
              <a:t>PHASE 2: OPTIMIZATION &amp; EXTENSION (30% -&gt; 70%)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Implement Focal Loss &amp; Class-Weighted Cross-Entropy to fix 'Fearfully Angry' vs 'Sadly Surprised' confusion.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Execute cross-dataset generalization experiments on full AffectNet and FER-2013 sets.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Conduct ablation studies on Morphological Splicing parameters.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Apply INT8 Quantization and TensorRT / ONNX export for edge acceleration.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6366F1"/>
                </a:solidFill>
              </a:defRPr>
            </a:pPr>
            <a:r>
              <a:t>PHASE 3: DEPLOYMENT &amp; DOCUMENTATION (70% -&gt; 100%)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Build real-time interactive Web Application / Desktop GUI for webcam video stream emotion prediction.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Integrate live emotion probability radar charts and logging.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Finalize Major Project Thesis &amp; Documentation report.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Prepare research paper manuscript for publication submission.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4B8A6"/>
                </a:solidFill>
                <a:latin typeface="Arial"/>
              </a:defRPr>
            </a:pPr>
            <a:r>
              <a:t>MAJOR PROJECT (30% COMPLETION REVIEW)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Project Timeline &amp; Milestone Schedule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7286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114800"/>
                <a:gridCol w="2103120"/>
                <a:gridCol w="2499055"/>
              </a:tblGrid>
              <a:tr h="87782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Phase / Timeframe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Key Milestones &amp; Deliverables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Target Completion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Phase 1 (Months 1-2)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Literature review, dataset setup, multi-branch architecture design, baseline evaluation suite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30% Milestone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4B8A6"/>
                          </a:solidFill>
                        </a:defRPr>
                      </a:pPr>
                      <a:r>
                        <a:t>COMPLETED ✅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Phase 2A (Month 3)</a:t>
                      </a:r>
                    </a:p>
                  </a:txBody>
                  <a:tcPr>
                    <a:solidFill>
                      <a:srgbClr val="1820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Focal loss optimization, hyperparameter tuning, ablation experiments</a:t>
                      </a:r>
                    </a:p>
                  </a:txBody>
                  <a:tcPr>
                    <a:solidFill>
                      <a:srgbClr val="1820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50% Milestone</a:t>
                      </a:r>
                    </a:p>
                  </a:txBody>
                  <a:tcPr>
                    <a:solidFill>
                      <a:srgbClr val="1820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59E0B"/>
                          </a:solidFill>
                        </a:defRPr>
                      </a:pPr>
                      <a:r>
                        <a:t>IN PROGRESS ⏳</a:t>
                      </a:r>
                    </a:p>
                  </a:txBody>
                  <a:tcPr>
                    <a:solidFill>
                      <a:srgbClr val="18202F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Phase 2B (Month 4)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Cross-dataset validation, model quantization (ONNX/TensorRT)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70% Milestone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59E0B"/>
                          </a:solidFill>
                        </a:defRPr>
                      </a:pPr>
                      <a:r>
                        <a:t>PLANNED 📅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Phase 3 (Months 5-6)</a:t>
                      </a:r>
                    </a:p>
                  </a:txBody>
                  <a:tcPr>
                    <a:solidFill>
                      <a:srgbClr val="1820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Real-time GUI web app, final thesis report, viva presentation &amp; paper submission</a:t>
                      </a:r>
                    </a:p>
                  </a:txBody>
                  <a:tcPr>
                    <a:solidFill>
                      <a:srgbClr val="1820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100% Final Review</a:t>
                      </a:r>
                    </a:p>
                  </a:txBody>
                  <a:tcPr>
                    <a:solidFill>
                      <a:srgbClr val="1820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59E0B"/>
                          </a:solidFill>
                        </a:defRPr>
                      </a:pPr>
                      <a:r>
                        <a:t>PLANNED 📅</a:t>
                      </a:r>
                    </a:p>
                  </a:txBody>
                  <a:tcPr>
                    <a:solidFill>
                      <a:srgbClr val="18202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4B8A6"/>
                </a:solidFill>
                <a:latin typeface="Arial"/>
              </a:defRPr>
            </a:pPr>
            <a:r>
              <a:t>MAJOR PROJECT (30% COMPLETION REVIEW)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Expected Major Project Deliverables &amp; Key Impact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28416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96265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14B8A6"/>
                </a:solidFill>
              </a:defRPr>
            </a:pPr>
            <a:r>
              <a:t>Trained Models &amp; Suite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6 Fully-Restored &amp; Evaluated Model Checkpoints.</a:t>
            </a:r>
            <a:br/>
            <a:r>
              <a:t>• PyTorch implementation of Morphological Splicing &amp; Dynamic Attention Fusion.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645920"/>
            <a:ext cx="3328416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08576" y="1828800"/>
            <a:ext cx="296265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6366F1"/>
                </a:solidFill>
              </a:defRPr>
            </a:pPr>
            <a:r>
              <a:t>Empirical Study &amp; Code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Comprehensive benchmarking dataset comparing Params, FLOPs, Accuracy, and Real-Time FPS.</a:t>
            </a:r>
            <a:br/>
            <a:r>
              <a:t>• Complete automated evaluation pipeline.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1645920"/>
            <a:ext cx="3328416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02752" y="1828800"/>
            <a:ext cx="296265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F43F5E"/>
                </a:solidFill>
              </a:defRPr>
            </a:pPr>
            <a:r>
              <a:t>Real-World Deployment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Web-based Real-Time Compound FER GUI Application.</a:t>
            </a:r>
            <a:br/>
            <a:r>
              <a:t>• Published Research Paper &amp; Major Project Thesis Documentation.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4B8A6"/>
                </a:solidFill>
                <a:latin typeface="Arial"/>
              </a:defRPr>
            </a:pPr>
            <a:r>
              <a:t>MAJOR PROJECT (30% COMPLETION REVIEW)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Conclusion &amp; Q&amp;A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645920"/>
            <a:ext cx="9448495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920240"/>
            <a:ext cx="889985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4B8A6"/>
                </a:solidFill>
              </a:defRPr>
            </a:pPr>
            <a:r>
              <a:t>SUMMARY OF PHASE 1 (30% COMPLETION)</a:t>
            </a:r>
          </a:p>
          <a:p>
            <a:pPr>
              <a:spcAft>
                <a:spcPts val="2400"/>
              </a:spcAft>
              <a:defRPr sz="1300">
                <a:solidFill>
                  <a:srgbClr val="F8FAFC"/>
                </a:solidFill>
              </a:defRPr>
            </a:pPr>
            <a:r>
              <a:t>• Successfully built and evaluated 6 deep learning hybrid models for 11 compound facial emotion classes.</a:t>
            </a:r>
            <a:br/>
            <a:r>
              <a:t>• Demonstrated top accuracy of 87.97% (ConvNeXt + ViT) and 87.61% (SA-CNN + ViT).</a:t>
            </a:r>
            <a:br/>
            <a:r>
              <a:t>• Identified lightweight real-time variant (SA-CNN + ALSTM @ 79.8 FPS).</a:t>
            </a:r>
            <a:br/>
            <a:r>
              <a:t>• Solved core pipeline requirements and laid strong technical groundwork for Phase 2 optimization.</a:t>
            </a:r>
          </a:p>
          <a:p>
            <a:pPr algn="ctr">
              <a:defRPr sz="2000" b="1">
                <a:solidFill>
                  <a:srgbClr val="FFFFFF"/>
                </a:solidFill>
              </a:defRPr>
            </a:pPr>
            <a:r>
              <a:t>THANK YOU!</a:t>
            </a:r>
            <a:br/>
            <a:r>
              <a:t>Open for Questions, Suggestions, and Faculty Feedback.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